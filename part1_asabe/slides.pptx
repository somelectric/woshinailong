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ARC 农业机器人俱乐部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7315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4400" b="1">
                <a:solidFill>
                  <a:srgbClr val="222222"/>
                </a:solidFill>
                <a:latin typeface="Microsoft YaHei"/>
              </a:rPr>
              <a:t>机构设计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94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200" b="0">
                <a:solidFill>
                  <a:srgbClr val="666666"/>
                </a:solidFill>
                <a:latin typeface="Microsoft YaHei"/>
              </a:rPr>
              <a:t>——从鸡蛋分拣任务讲起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114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分享人：宋在扬 / 马庆一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480560"/>
            <a:ext cx="7315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ASABE 2025 国际大学生机器人大赛 · 标准组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给 ARC 大一新成员的入门课 · 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方法论 · 任务拆解：解耦 → 耦合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Part 1 的核心思想，贯穿整节课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8442A"/>
                </a:solidFill>
                <a:latin typeface="Microsoft YaHei"/>
              </a:rPr>
              <a:t>① 解耦（Decouple）：把复杂任务拆成可独立思考的子问题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6008" y="178308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828800"/>
            <a:ext cx="2926080" cy="7315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鸡蛋分拣任务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017520"/>
            <a:ext cx="3474720" cy="731520"/>
          </a:xfrm>
          <a:prstGeom prst="roundRect">
            <a:avLst>
              <a:gd name="adj" fmla="val 10000"/>
            </a:avLst>
          </a:prstGeom>
          <a:noFill/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3474720" cy="7315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子问题 A：怎么收集？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017520"/>
            <a:ext cx="3474720" cy="731520"/>
          </a:xfrm>
          <a:prstGeom prst="roundRect">
            <a:avLst>
              <a:gd name="adj" fmla="val 10000"/>
            </a:avLst>
          </a:prstGeom>
          <a:noFill/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063240"/>
            <a:ext cx="3474720" cy="7315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子问题 B：怎么分拣？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514600"/>
            <a:ext cx="0" cy="274320"/>
          </a:xfrm>
          <a:prstGeom prst="line">
            <a:avLst/>
          </a:prstGeom>
          <a:ln w="19050">
            <a:solid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08960" y="2788920"/>
            <a:ext cx="5943600" cy="0"/>
          </a:xfrm>
          <a:prstGeom prst="line">
            <a:avLst/>
          </a:prstGeom>
          <a:ln w="19050">
            <a:solid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08960" y="2788920"/>
            <a:ext cx="0" cy="228600"/>
          </a:xfrm>
          <a:prstGeom prst="bentConnector3">
            <a:avLst/>
          </a:prstGeom>
          <a:ln w="19050">
            <a:solidFill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52560" y="2788920"/>
            <a:ext cx="0" cy="228600"/>
          </a:xfrm>
          <a:prstGeom prst="bentConnector3">
            <a:avLst/>
          </a:prstGeom>
          <a:ln w="19050">
            <a:solidFill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0690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8442A"/>
                </a:solidFill>
                <a:latin typeface="Microsoft YaHei"/>
              </a:rPr>
              <a:t>② 耦合（Couple）：考虑子问题之间的联动性，做整体选型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617720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5486400" cy="7315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Microsoft YaHei"/>
              </a:rPr>
              <a:t>关键问题：A 和 B 能不能合并到一个机构里实现？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3212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532120"/>
            <a:ext cx="38100" cy="109728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623560"/>
            <a:ext cx="1101852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C8442A"/>
                </a:solidFill>
                <a:latin typeface="Microsoft YaHei"/>
              </a:rPr>
              <a:t>我们的答案（后面会展开）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035040"/>
            <a:ext cx="110185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收集用「刮板扫入」，分拣用「压力传感器称重」——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两者合并到「刮板 + 压力传感器一体化」结构里，一个机构同时完成两个子任务。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ASABE 2025 任务：5 分钟收蛋分拣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理解任务约束是机构设计的第一步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4320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3200" b="0">
                <a:solidFill>
                  <a:srgbClr val="C8442A"/>
                </a:solidFill>
                <a:latin typeface="Microsoft YaHe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C8442A"/>
                </a:solidFill>
                <a:latin typeface="Microsoft YaHe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37744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</a:rPr>
              <a:t>限时完成所有动作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1732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3200" b="0">
                <a:solidFill>
                  <a:srgbClr val="2A5C8A"/>
                </a:solidFill>
                <a:latin typeface="Microsoft YaHei"/>
              </a:rPr>
              <a:t>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2A5C8A"/>
                </a:solidFill>
                <a:latin typeface="Microsoft YaHei"/>
              </a:rPr>
              <a:t>12″立方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37744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</a:rPr>
              <a:t>机器人整体尺寸约束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74320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3200" b="0">
                <a:solidFill>
                  <a:srgbClr val="2A7C4A"/>
                </a:solidFill>
                <a:latin typeface="Microsoft YaHe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2A7C4A"/>
                </a:solidFill>
                <a:latin typeface="Microsoft YaHei"/>
              </a:rPr>
              <a:t>自主运行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37744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</a:rPr>
              <a:t>启动后无需人工干预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280160"/>
            <a:ext cx="274320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41732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3200" b="0">
                <a:solidFill>
                  <a:srgbClr val="A13030"/>
                </a:solidFill>
                <a:latin typeface="Microsoft YaHei"/>
              </a:rPr>
              <a:t>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A13030"/>
                </a:solidFill>
                <a:latin typeface="Microsoft YaHei"/>
              </a:rPr>
              <a:t>好坏蛋分类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560320"/>
            <a:ext cx="237744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</a:rPr>
              <a:t>好蛋入筐 / 坏蛋排除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Microsoft YaHei"/>
              </a:rPr>
              <a:t>得分逻辑：好蛋正确入筐 +坏蛋正确识别 + 自主完成度 + 报告分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38100" cy="2011680"/>
          </a:xfrm>
          <a:prstGeom prst="rect">
            <a:avLst/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480560"/>
            <a:ext cx="1101852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2A5C8A"/>
                </a:solidFill>
                <a:latin typeface="Microsoft YaHei"/>
              </a:rPr>
              <a:t>对机构设计的隐含要求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892040"/>
            <a:ext cx="11018520" cy="1463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高效：5 min 内完成 → 机构要快，不能慢悠悠一个一个抓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可靠：自主运行 → 机构要稳，不能依赖人工调整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紧凑：12″立方 → 所有机构要塞进有限空间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精准：好坏蛋分类 → 末端执行器要带感知（这里是压力传感器）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解耦-收集方案：5 选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穷举候选方案 → 用约束筛选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280160"/>
            <a:ext cx="292608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280160"/>
            <a:ext cx="29260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原理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280160"/>
            <a:ext cx="246888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280160"/>
            <a:ext cx="2468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优点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280160"/>
            <a:ext cx="246888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280160"/>
            <a:ext cx="2468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缺点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1280160"/>
            <a:ext cx="137160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1280160"/>
            <a:ext cx="13716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是否选用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73736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83080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机械臂抓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737360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178308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多自由度臂 + 夹爪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173736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178308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通用、灵活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73736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178308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慢、控制复杂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173736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1783080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7744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423160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真空吸盘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2377440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42316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负压吸附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237744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242316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对鸡蛋友好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37744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242316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需气源、易漏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20" y="237744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2423160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1752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063240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网兜捡球式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3017520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306324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皮筋网兜 + 下压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301752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结构简单、对蛋友好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301752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需下压动作、单向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20" y="301752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60" y="3063240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657599"/>
            <a:ext cx="201168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703319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C8442A"/>
                </a:solidFill>
                <a:latin typeface="Microsoft YaHei"/>
              </a:rPr>
              <a:t>刮板扫入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3657599"/>
            <a:ext cx="292608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3703319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C8442A"/>
                </a:solidFill>
                <a:latin typeface="Microsoft YaHei"/>
              </a:rPr>
              <a:t>侧向单方向推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3657599"/>
            <a:ext cx="246888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3703319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C8442A"/>
                </a:solidFill>
                <a:latin typeface="Microsoft YaHei"/>
              </a:rPr>
              <a:t>结构最简、可一体化称重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657599"/>
            <a:ext cx="246888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80" y="3703319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C8442A"/>
                </a:solidFill>
                <a:latin typeface="Microsoft YaHei"/>
              </a:rPr>
              <a:t>只能特定方向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20" y="3657599"/>
            <a:ext cx="137160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60" y="3703319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C8442A"/>
                </a:solidFill>
                <a:latin typeface="Microsoft YaHei"/>
              </a:rPr>
              <a:t>★ 我们选用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29768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343400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履带拾取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4297680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0" y="434340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传送带底部收集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429768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434340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可大批量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429768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80" y="434340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体积大、易卡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32720" y="429768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0" y="4343400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166360"/>
            <a:ext cx="112471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5166360"/>
            <a:ext cx="38100" cy="128016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5257800"/>
            <a:ext cx="1101852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8442A"/>
                </a:solidFill>
                <a:latin typeface="Microsoft YaHei"/>
              </a:rPr>
              <a:t>为什么选刮板？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69280"/>
            <a:ext cx="11018520" cy="7315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① 结构最简（一个舵机 + 一块板）→ 满足 12″立方约束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② 可与压力传感器一体化 → 满足「收集 + 分拣」耦合需求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③ 鸡蛋易碎，不夹比夹更安全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解耦-分拣方案：5 选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分拣 = 区分好蛋/坏蛋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280160"/>
            <a:ext cx="292608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280160"/>
            <a:ext cx="29260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原理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280160"/>
            <a:ext cx="246888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280160"/>
            <a:ext cx="2468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优点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280160"/>
            <a:ext cx="246888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280160"/>
            <a:ext cx="2468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缺点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1280160"/>
            <a:ext cx="1371600" cy="457200"/>
          </a:xfrm>
          <a:prstGeom prst="rect">
            <a:avLst/>
          </a:prstGeom>
          <a:solidFill>
            <a:srgbClr val="C8442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1280160"/>
            <a:ext cx="13716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是否选用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73736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83080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视觉识别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737360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178308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摄像头 + 图像分类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173736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178308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信息量大、可识别裂纹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73736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178308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算力高、训练复杂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173736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1783080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7744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423160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颜色识别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2377440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42316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颜色传感器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237744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242316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便宜、可靠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37744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242316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对灯光敏感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20" y="237744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2423160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他组选用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17520"/>
            <a:ext cx="201168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063240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C8442A"/>
                </a:solidFill>
                <a:latin typeface="Microsoft YaHei"/>
              </a:rPr>
              <a:t>重量检测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3017520"/>
            <a:ext cx="292608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306324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C8442A"/>
                </a:solidFill>
                <a:latin typeface="Microsoft YaHei"/>
              </a:rPr>
              <a:t>压力传感器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3017520"/>
            <a:ext cx="246888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C8442A"/>
                </a:solidFill>
                <a:latin typeface="Microsoft YaHei"/>
              </a:rPr>
              <a:t>直接、可靠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3017520"/>
            <a:ext cx="246888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C8442A"/>
                </a:solidFill>
                <a:latin typeface="Microsoft YaHei"/>
              </a:rPr>
              <a:t>需接触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20" y="3017520"/>
            <a:ext cx="1371600" cy="640080"/>
          </a:xfrm>
          <a:prstGeom prst="rect">
            <a:avLst/>
          </a:prstGeom>
          <a:solidFill>
            <a:srgbClr val="FDE7E0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60" y="3063240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C8442A"/>
                </a:solidFill>
                <a:latin typeface="Microsoft YaHei"/>
              </a:rPr>
              <a:t>★ 我们选用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657599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703319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丝线分拣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3657599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3703319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不同紧度丝线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3657599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3703319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无传感器、自然分拣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657599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80" y="3703319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需精细调参数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20" y="3657599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60" y="3703319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他组选用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297680"/>
            <a:ext cx="20116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343400"/>
            <a:ext cx="18288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大小检测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4297680"/>
            <a:ext cx="29260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0" y="4343400"/>
            <a:ext cx="27432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光电测距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429768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434340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结构简单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429768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80" y="4343400"/>
            <a:ext cx="22860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好坏蛋大小差不多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32720" y="429768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0" y="4343400"/>
            <a:ext cx="118872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166360"/>
            <a:ext cx="112471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5166360"/>
            <a:ext cx="38100" cy="128016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5257800"/>
            <a:ext cx="1101852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600" b="1">
                <a:solidFill>
                  <a:srgbClr val="C8442A"/>
                </a:solidFill>
                <a:latin typeface="Microsoft YaHei"/>
              </a:rPr>
              <a:t>为什么选重量检测？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69280"/>
            <a:ext cx="11018520" cy="7315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① 好蛋/坏蛋（破损、变质）重量差异明显 → 物理特征可靠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② 可与刮板结构耦合 → 刮板底部贴压力传感器，扫入即称重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③ 不需要额外传感器/算力 → 满足「自主 + 紧凑」约束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注：丝线分拣是同赛场另一组的方案——重的蛋穿过丝线落下，轻的弹开，构思很巧。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耦合：刮板 + 压力传感器 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两个子问题的解在这里合并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943600" cy="50292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d-effector-pi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95" y="1554480"/>
            <a:ext cx="4733809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35040"/>
            <a:ext cx="59436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0">
                <a:solidFill>
                  <a:srgbClr val="666666"/>
                </a:solidFill>
                <a:latin typeface="Microsoft YaHei"/>
              </a:rPr>
              <a:t>末端执行器（刮板 + 蜂窝筐 + 压力传感器）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5029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C8442A"/>
                </a:solidFill>
                <a:latin typeface="Microsoft YaHei"/>
              </a:rPr>
              <a:t>结构 = 解 A + 解 B 的物理交集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50292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8442A"/>
                </a:solidFill>
                <a:latin typeface="Microsoft YaHei"/>
              </a:rPr>
              <a:t>① 收集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12848"/>
            <a:ext cx="4754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Microsoft YaHei"/>
              </a:rPr>
              <a:t>刮板由舵机驱动，绕轴摆动 → 鸡蛋被扫入蜂窝筐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743200"/>
            <a:ext cx="50292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816352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8442A"/>
                </a:solidFill>
                <a:latin typeface="Microsoft YaHei"/>
              </a:rPr>
              <a:t>② 分拣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127248"/>
            <a:ext cx="4754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Microsoft YaHei"/>
              </a:rPr>
              <a:t>蜂窝筐底部嵌入压力传感器 → 鸡蛋进入即称重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657600"/>
            <a:ext cx="50292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730752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8442A"/>
                </a:solidFill>
                <a:latin typeface="Microsoft YaHei"/>
              </a:rPr>
              <a:t>③ 一体化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041648"/>
            <a:ext cx="4754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Microsoft YaHei"/>
              </a:rPr>
              <a:t>同一结构件承担两个功能 → 不需要两个独立机构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46320"/>
            <a:ext cx="50292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2A7C4A"/>
                </a:solidFill>
                <a:latin typeface="Microsoft YaHei"/>
              </a:rPr>
              <a:t>✓ 耦合思维 ≠ 拼接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212080"/>
            <a:ext cx="5029200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不是为了省零件而合并，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而是因为两个子任务在物理上共享同一个执行点（鸡蛋被夹持的位置）。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机构设计要找的就是这种「共享点」。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整机总览：模块化标注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5 个子系统，每个都有对应的机构设计点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7772400" cy="50292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bot-full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633" y="1371600"/>
            <a:ext cx="5075533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188720"/>
            <a:ext cx="32004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C8442A"/>
                </a:solidFill>
                <a:latin typeface="Microsoft YaHei"/>
              </a:rPr>
              <a:t>5 个子系统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45920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91640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2A5C8A"/>
                </a:solidFill>
                <a:latin typeface="Microsoft YaHei"/>
              </a:rPr>
              <a:t>① 移动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029968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Microsoft YaHei"/>
              </a:rPr>
              <a:t>4× 麦轮 + 42 步进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514600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560320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8442A"/>
                </a:solidFill>
                <a:latin typeface="Microsoft YaHei"/>
              </a:rPr>
              <a:t>② 机械臂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898648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Microsoft YaHei"/>
              </a:rPr>
              <a:t>3-DOF 串联关节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383280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429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8442A"/>
                </a:solidFill>
                <a:latin typeface="Microsoft YaHei"/>
              </a:rPr>
              <a:t>③ 末端执行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767328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Microsoft YaHei"/>
              </a:rPr>
              <a:t>刮板 + 蜂窝筐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251959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4297679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2A7C4A"/>
                </a:solidFill>
                <a:latin typeface="Microsoft YaHei"/>
              </a:rPr>
              <a:t>④ 好蛋释放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636007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Microsoft YaHei"/>
              </a:rPr>
              <a:t>倾斜板 + 5mm 泡棉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120640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5166360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A13030"/>
                </a:solidFill>
                <a:latin typeface="Microsoft YaHei"/>
              </a:rPr>
              <a:t>⑤ 坏蛋释放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504688"/>
            <a:ext cx="30175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Microsoft YaHei"/>
              </a:rPr>
              <a:t>软织物张紧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释放机构：好蛋 + 坏蛋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两种独立机构，对应两种释放逻辑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2A7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好蛋释放 · 倾斜板 + 5mm 泡棉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32004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orage-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313" y="1965960"/>
            <a:ext cx="3650173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1206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Microsoft YaHei"/>
              </a:rPr>
              <a:t>• 舵机驱动铰链板（简化四杆）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Microsoft YaHei"/>
              </a:rPr>
              <a:t>• 5mm 泡棉缓冲 → 鸡蛋不破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Microsoft YaHei"/>
              </a:rPr>
              <a:t>• 侧置舵机收紧 → 板倾斜 → 蛋滑出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A1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548640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坏蛋释放 · 软织物张紧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486400" cy="32004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635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fab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320" y="1965960"/>
            <a:ext cx="2955599" cy="2926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51206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Microsoft YaHei"/>
              </a:rPr>
              <a:t>• 软织物平时张紧成斜坡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Microsoft YaHei"/>
              </a:rPr>
              <a:t>• 舵机收紧 → 坡度增加 → 坏蛋滑出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22222"/>
                </a:solidFill>
                <a:latin typeface="Microsoft YaHei"/>
              </a:rPr>
              <a:t>• 柔顺机构思路（无刚性结构）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比赛演示视频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整机集成后的实际运行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280160"/>
            <a:ext cx="8503920" cy="4754880"/>
          </a:xfrm>
          <a:prstGeom prst="roundRect">
            <a:avLst>
              <a:gd name="adj" fmla="val 10000"/>
            </a:avLst>
          </a:prstGeom>
          <a:solidFill>
            <a:srgbClr val="222222"/>
          </a:solidFill>
          <a:ln w="254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competition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20240" y="1371600"/>
            <a:ext cx="832104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Microsoft YaHei"/>
              </a:rPr>
              <a:t>关注：自主运行、5 min 内的节奏、收集-称重-释放的完整循环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9 /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22222"/>
                </a:solidFill>
                <a:latin typeface="Microsoft YaHei"/>
              </a:rPr>
              <a:t>桥段回顾 → 进入 Part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640080" cy="45720"/>
          </a:xfrm>
          <a:prstGeom prst="rect">
            <a:avLst/>
          </a:prstGeom>
          <a:solidFill>
            <a:srgbClr val="C8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66666"/>
                </a:solidFill>
                <a:latin typeface="Microsoft YaHei"/>
              </a:rPr>
              <a:t>下面是 HTML 互动页面，可以现场调参数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700" b="1">
                <a:solidFill>
                  <a:srgbClr val="C8442A"/>
                </a:solidFill>
                <a:latin typeface="Microsoft YaHei"/>
              </a:rPr>
              <a:t>Part 1 提到的 → Part 2 对应页面：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114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</a:rPr>
              <a:t>3-DOF 机械臂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457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91640"/>
            <a:ext cx="6675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783080"/>
            <a:ext cx="6675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A5C8A"/>
                </a:solidFill>
                <a:latin typeface="Microsoft YaHei"/>
              </a:rPr>
              <a:t>自由度页 + 复杂曲线页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114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</a:rPr>
              <a:t>刮板扫入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457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240280"/>
            <a:ext cx="6675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331720"/>
            <a:ext cx="6675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A5C8A"/>
                </a:solidFill>
                <a:latin typeface="Microsoft YaHei"/>
              </a:rPr>
              <a:t>直线运动页 + 夹持拾取页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8892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4114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</a:rPr>
              <a:t>铰链板释放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34640"/>
            <a:ext cx="457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788920"/>
            <a:ext cx="6675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880360"/>
            <a:ext cx="6675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A5C8A"/>
                </a:solidFill>
                <a:latin typeface="Microsoft YaHei"/>
              </a:rPr>
              <a:t>摆动页（四杆机构 hero）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3756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114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</a:rPr>
              <a:t>步进电机直驱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83280"/>
            <a:ext cx="457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337560"/>
            <a:ext cx="6675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429000"/>
            <a:ext cx="6675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2A5C8A"/>
                </a:solidFill>
                <a:latin typeface="Microsoft YaHei"/>
              </a:rPr>
              <a:t>间歇运动页 + 减速传动页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10000"/>
            </a:avLst>
          </a:prstGeom>
          <a:solidFill>
            <a:srgbClr val="EEEEEA"/>
          </a:solidFill>
          <a:ln w="25400"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400" b="1">
                <a:solidFill>
                  <a:srgbClr val="C8442A"/>
                </a:solidFill>
                <a:latin typeface="Microsoft YaHei"/>
              </a:rPr>
              <a:t>Q &amp;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现在欢迎提问。问题方向：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任何机构的选择理由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实物制作中的具体问题（材料、加工、装配）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ASABE 比赛相关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